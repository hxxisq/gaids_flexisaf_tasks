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148840"/>
            <a:ext cx="960120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Student Performance</a:t>
            </a:r>
            <a:endParaRPr lang="en-US" sz="4000" dirty="0"/>
          </a:p>
          <a:p>
            <a:pPr indent="0" marL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&amp; Attendance Analysis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548640" y="3977640"/>
            <a:ext cx="8686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Cleaning, merging, and visualizing five linked classroom datasets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548640" y="59893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Dataset: Student Performance and Attendance Dataset — Marvy Ayman Halim (Kaggle)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9966960" y="548640"/>
            <a:ext cx="1645920" cy="1645920"/>
          </a:xfrm>
          <a:prstGeom prst="ellipse">
            <a:avLst/>
          </a:prstGeom>
          <a:solidFill>
            <a:srgbClr val="2A3576"/>
          </a:solidFill>
          <a:ln/>
        </p:spPr>
      </p:sp>
      <p:sp>
        <p:nvSpPr>
          <p:cNvPr id="6" name="Shape 4"/>
          <p:cNvSpPr/>
          <p:nvPr/>
        </p:nvSpPr>
        <p:spPr>
          <a:xfrm>
            <a:off x="10332720" y="914400"/>
            <a:ext cx="914400" cy="914400"/>
          </a:xfrm>
          <a:prstGeom prst="ellipse">
            <a:avLst/>
          </a:prstGeom>
          <a:solidFill>
            <a:srgbClr val="3E5FCB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737360"/>
            <a:ext cx="640080" cy="64008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7373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6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?</a:t>
            </a:r>
            <a:endParaRPr lang="en-US" sz="1960" dirty="0"/>
          </a:p>
        </p:txBody>
      </p:sp>
      <p:sp>
        <p:nvSpPr>
          <p:cNvPr id="5" name="Text 3"/>
          <p:cNvSpPr/>
          <p:nvPr/>
        </p:nvSpPr>
        <p:spPr>
          <a:xfrm>
            <a:off x="1417320" y="1691640"/>
            <a:ext cx="694944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Schools collect attendance, homework, and exam data in separate systems. That makes it hard to see, at a glance, how attendance and homework habits relate to exam performance — or to spot patterns by grade level and subject.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3566160"/>
            <a:ext cx="640080" cy="64008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35661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6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960" dirty="0"/>
          </a:p>
        </p:txBody>
      </p:sp>
      <p:sp>
        <p:nvSpPr>
          <p:cNvPr id="8" name="Text 6"/>
          <p:cNvSpPr/>
          <p:nvPr/>
        </p:nvSpPr>
        <p:spPr>
          <a:xfrm>
            <a:off x="1417320" y="3520440"/>
            <a:ext cx="694944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 cleans and merges five related datasets into one analysis-ready table, then visualizes subject-level performance, attendance patterns, and the relationship between attendance/homework and exam scores.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8321040" y="1691640"/>
            <a:ext cx="3291840" cy="3566160"/>
          </a:xfrm>
          <a:prstGeom prst="roundRect">
            <a:avLst>
              <a:gd name="adj" fmla="val 3333"/>
            </a:avLst>
          </a:prstGeom>
          <a:solidFill>
            <a:srgbClr val="F4F6FC"/>
          </a:solidFill>
          <a:ln/>
        </p:spPr>
      </p:sp>
      <p:sp>
        <p:nvSpPr>
          <p:cNvPr id="10" name="Text 8"/>
          <p:cNvSpPr/>
          <p:nvPr/>
        </p:nvSpPr>
        <p:spPr>
          <a:xfrm>
            <a:off x="8321040" y="1965960"/>
            <a:ext cx="3291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3E5FC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6000" dirty="0"/>
          </a:p>
        </p:txBody>
      </p:sp>
      <p:sp>
        <p:nvSpPr>
          <p:cNvPr id="11" name="Text 9"/>
          <p:cNvSpPr/>
          <p:nvPr/>
        </p:nvSpPr>
        <p:spPr>
          <a:xfrm>
            <a:off x="8321040" y="278892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 datasets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321040" y="3383280"/>
            <a:ext cx="3291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3E5FC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12,157</a:t>
            </a:r>
            <a:endParaRPr lang="en-US" sz="4000" dirty="0"/>
          </a:p>
        </p:txBody>
      </p:sp>
      <p:sp>
        <p:nvSpPr>
          <p:cNvPr id="13" name="Text 11"/>
          <p:cNvSpPr/>
          <p:nvPr/>
        </p:nvSpPr>
        <p:spPr>
          <a:xfrm>
            <a:off x="8321040" y="397764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covered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321040" y="4526280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3E5FC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8321040" y="507492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subjects tracked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Dataset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Performance and Attendance Dataset — Marvy Ayman Halim, via Kaggle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11064240" cy="694944"/>
          </a:xfrm>
          <a:prstGeom prst="roundRect">
            <a:avLst>
              <a:gd name="adj" fmla="val 10526"/>
            </a:avLst>
          </a:prstGeom>
          <a:solidFill>
            <a:srgbClr val="F4F6FC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874520"/>
            <a:ext cx="393192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students.csv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4251960" y="1874520"/>
            <a:ext cx="155448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3E5F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12,157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035040" y="1874520"/>
            <a:ext cx="512064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Roster: ID, name, grade level, date of birth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715768"/>
            <a:ext cx="11064240" cy="694944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2715768"/>
            <a:ext cx="393192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attendance.csv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4251960" y="2715768"/>
            <a:ext cx="155448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3E5F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~365,000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035040" y="2715768"/>
            <a:ext cx="512064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attendance status by subject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3557016"/>
            <a:ext cx="11064240" cy="694944"/>
          </a:xfrm>
          <a:prstGeom prst="roundRect">
            <a:avLst>
              <a:gd name="adj" fmla="val 10526"/>
            </a:avLst>
          </a:prstGeom>
          <a:solidFill>
            <a:srgbClr val="F4F6FC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3557016"/>
            <a:ext cx="393192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homework.csv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4251960" y="3557016"/>
            <a:ext cx="155448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3E5F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~61,000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035040" y="3557016"/>
            <a:ext cx="512064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Homework assignment status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4398264"/>
            <a:ext cx="11064240" cy="694944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" y="4398264"/>
            <a:ext cx="393192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performance.csv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4251960" y="4398264"/>
            <a:ext cx="155448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3E5F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~36,000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035040" y="4398264"/>
            <a:ext cx="512064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 scores &amp; homework completion %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48640" y="5239512"/>
            <a:ext cx="11064240" cy="694944"/>
          </a:xfrm>
          <a:prstGeom prst="roundRect">
            <a:avLst>
              <a:gd name="adj" fmla="val 10526"/>
            </a:avLst>
          </a:prstGeom>
          <a:solidFill>
            <a:srgbClr val="F4F6FC"/>
          </a:solidFill>
          <a:ln/>
        </p:spPr>
      </p:sp>
      <p:sp>
        <p:nvSpPr>
          <p:cNvPr id="21" name="Text 19"/>
          <p:cNvSpPr/>
          <p:nvPr/>
        </p:nvSpPr>
        <p:spPr>
          <a:xfrm>
            <a:off x="777240" y="5239512"/>
            <a:ext cx="393192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teacher_parent_communication.csv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4251960" y="5239512"/>
            <a:ext cx="155448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3E5F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~24,000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035040" y="5239512"/>
            <a:ext cx="512064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Communication log entries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Methods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2194560"/>
            <a:ext cx="2084832" cy="2743200"/>
          </a:xfrm>
          <a:prstGeom prst="roundRect">
            <a:avLst>
              <a:gd name="adj" fmla="val 4386"/>
            </a:avLst>
          </a:prstGeom>
          <a:solidFill>
            <a:srgbClr val="F4F6FC"/>
          </a:solidFill>
          <a:ln/>
        </p:spPr>
      </p:sp>
      <p:sp>
        <p:nvSpPr>
          <p:cNvPr id="4" name="Shape 2"/>
          <p:cNvSpPr/>
          <p:nvPr/>
        </p:nvSpPr>
        <p:spPr>
          <a:xfrm>
            <a:off x="1271016" y="2468880"/>
            <a:ext cx="640080" cy="640080"/>
          </a:xfrm>
          <a:prstGeom prst="ellipse">
            <a:avLst/>
          </a:prstGeom>
          <a:solidFill>
            <a:srgbClr val="3E5FCB"/>
          </a:solidFill>
          <a:ln/>
        </p:spPr>
      </p:sp>
      <p:sp>
        <p:nvSpPr>
          <p:cNvPr id="5" name="Text 3"/>
          <p:cNvSpPr/>
          <p:nvPr/>
        </p:nvSpPr>
        <p:spPr>
          <a:xfrm>
            <a:off x="1271016" y="24688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6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960" dirty="0"/>
          </a:p>
        </p:txBody>
      </p:sp>
      <p:sp>
        <p:nvSpPr>
          <p:cNvPr id="6" name="Text 4"/>
          <p:cNvSpPr/>
          <p:nvPr/>
        </p:nvSpPr>
        <p:spPr>
          <a:xfrm>
            <a:off x="640080" y="3337560"/>
            <a:ext cx="1901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Load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85800" y="3749040"/>
            <a:ext cx="181051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all five raw CSVs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2615184" y="3200400"/>
            <a:ext cx="17373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E5F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2770632" y="2194560"/>
            <a:ext cx="2084832" cy="2743200"/>
          </a:xfrm>
          <a:prstGeom prst="roundRect">
            <a:avLst>
              <a:gd name="adj" fmla="val 4386"/>
            </a:avLst>
          </a:prstGeom>
          <a:solidFill>
            <a:srgbClr val="F4F6FC"/>
          </a:solidFill>
          <a:ln/>
        </p:spPr>
      </p:sp>
      <p:sp>
        <p:nvSpPr>
          <p:cNvPr id="10" name="Shape 8"/>
          <p:cNvSpPr/>
          <p:nvPr/>
        </p:nvSpPr>
        <p:spPr>
          <a:xfrm>
            <a:off x="3493008" y="2468880"/>
            <a:ext cx="640080" cy="640080"/>
          </a:xfrm>
          <a:prstGeom prst="ellipse">
            <a:avLst/>
          </a:prstGeom>
          <a:solidFill>
            <a:srgbClr val="3E5FCB"/>
          </a:solidFill>
          <a:ln/>
        </p:spPr>
      </p:sp>
      <p:sp>
        <p:nvSpPr>
          <p:cNvPr id="11" name="Text 9"/>
          <p:cNvSpPr/>
          <p:nvPr/>
        </p:nvSpPr>
        <p:spPr>
          <a:xfrm>
            <a:off x="3493008" y="24688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6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960" dirty="0"/>
          </a:p>
        </p:txBody>
      </p:sp>
      <p:sp>
        <p:nvSpPr>
          <p:cNvPr id="12" name="Text 10"/>
          <p:cNvSpPr/>
          <p:nvPr/>
        </p:nvSpPr>
        <p:spPr>
          <a:xfrm>
            <a:off x="2862072" y="3337560"/>
            <a:ext cx="1901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Clean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2907792" y="3749040"/>
            <a:ext cx="181051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Normalize status text, dates, and percent fields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4837176" y="3200400"/>
            <a:ext cx="17373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E5F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4992624" y="2194560"/>
            <a:ext cx="2084832" cy="2743200"/>
          </a:xfrm>
          <a:prstGeom prst="roundRect">
            <a:avLst>
              <a:gd name="adj" fmla="val 4386"/>
            </a:avLst>
          </a:prstGeom>
          <a:solidFill>
            <a:srgbClr val="F4F6FC"/>
          </a:solidFill>
          <a:ln/>
        </p:spPr>
      </p:sp>
      <p:sp>
        <p:nvSpPr>
          <p:cNvPr id="16" name="Shape 14"/>
          <p:cNvSpPr/>
          <p:nvPr/>
        </p:nvSpPr>
        <p:spPr>
          <a:xfrm>
            <a:off x="5715000" y="2468880"/>
            <a:ext cx="640080" cy="640080"/>
          </a:xfrm>
          <a:prstGeom prst="ellipse">
            <a:avLst/>
          </a:prstGeom>
          <a:solidFill>
            <a:srgbClr val="3E5FCB"/>
          </a:solidFill>
          <a:ln/>
        </p:spPr>
      </p:sp>
      <p:sp>
        <p:nvSpPr>
          <p:cNvPr id="17" name="Text 15"/>
          <p:cNvSpPr/>
          <p:nvPr/>
        </p:nvSpPr>
        <p:spPr>
          <a:xfrm>
            <a:off x="5715000" y="24688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6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960" dirty="0"/>
          </a:p>
        </p:txBody>
      </p:sp>
      <p:sp>
        <p:nvSpPr>
          <p:cNvPr id="18" name="Text 16"/>
          <p:cNvSpPr/>
          <p:nvPr/>
        </p:nvSpPr>
        <p:spPr>
          <a:xfrm>
            <a:off x="5084064" y="3337560"/>
            <a:ext cx="1901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Merge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129784" y="3749040"/>
            <a:ext cx="181051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 into one row per student × subject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7059168" y="3200400"/>
            <a:ext cx="17373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E5F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</a:t>
            </a:r>
            <a:endParaRPr lang="en-US" sz="2200" dirty="0"/>
          </a:p>
        </p:txBody>
      </p:sp>
      <p:sp>
        <p:nvSpPr>
          <p:cNvPr id="21" name="Shape 19"/>
          <p:cNvSpPr/>
          <p:nvPr/>
        </p:nvSpPr>
        <p:spPr>
          <a:xfrm>
            <a:off x="7214616" y="2194560"/>
            <a:ext cx="2084832" cy="2743200"/>
          </a:xfrm>
          <a:prstGeom prst="roundRect">
            <a:avLst>
              <a:gd name="adj" fmla="val 4386"/>
            </a:avLst>
          </a:prstGeom>
          <a:solidFill>
            <a:srgbClr val="F4F6FC"/>
          </a:solidFill>
          <a:ln/>
        </p:spPr>
      </p:sp>
      <p:sp>
        <p:nvSpPr>
          <p:cNvPr id="22" name="Shape 20"/>
          <p:cNvSpPr/>
          <p:nvPr/>
        </p:nvSpPr>
        <p:spPr>
          <a:xfrm>
            <a:off x="7936992" y="2468880"/>
            <a:ext cx="640080" cy="640080"/>
          </a:xfrm>
          <a:prstGeom prst="ellipse">
            <a:avLst/>
          </a:prstGeom>
          <a:solidFill>
            <a:srgbClr val="3E5FCB"/>
          </a:solidFill>
          <a:ln/>
        </p:spPr>
      </p:sp>
      <p:sp>
        <p:nvSpPr>
          <p:cNvPr id="23" name="Text 21"/>
          <p:cNvSpPr/>
          <p:nvPr/>
        </p:nvSpPr>
        <p:spPr>
          <a:xfrm>
            <a:off x="7936992" y="24688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6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960" dirty="0"/>
          </a:p>
        </p:txBody>
      </p:sp>
      <p:sp>
        <p:nvSpPr>
          <p:cNvPr id="24" name="Text 22"/>
          <p:cNvSpPr/>
          <p:nvPr/>
        </p:nvSpPr>
        <p:spPr>
          <a:xfrm>
            <a:off x="7306056" y="3337560"/>
            <a:ext cx="1901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Analyze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7351776" y="3749040"/>
            <a:ext cx="181051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Mean, variance, and correlations per subject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9281160" y="3200400"/>
            <a:ext cx="17373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E5F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</a:t>
            </a:r>
            <a:endParaRPr lang="en-US" sz="2200" dirty="0"/>
          </a:p>
        </p:txBody>
      </p:sp>
      <p:sp>
        <p:nvSpPr>
          <p:cNvPr id="27" name="Shape 25"/>
          <p:cNvSpPr/>
          <p:nvPr/>
        </p:nvSpPr>
        <p:spPr>
          <a:xfrm>
            <a:off x="9436608" y="2194560"/>
            <a:ext cx="2084832" cy="2743200"/>
          </a:xfrm>
          <a:prstGeom prst="roundRect">
            <a:avLst>
              <a:gd name="adj" fmla="val 4386"/>
            </a:avLst>
          </a:prstGeom>
          <a:solidFill>
            <a:srgbClr val="F4F6FC"/>
          </a:solidFill>
          <a:ln/>
        </p:spPr>
      </p:sp>
      <p:sp>
        <p:nvSpPr>
          <p:cNvPr id="28" name="Shape 26"/>
          <p:cNvSpPr/>
          <p:nvPr/>
        </p:nvSpPr>
        <p:spPr>
          <a:xfrm>
            <a:off x="10158984" y="2468880"/>
            <a:ext cx="640080" cy="640080"/>
          </a:xfrm>
          <a:prstGeom prst="ellipse">
            <a:avLst/>
          </a:prstGeom>
          <a:solidFill>
            <a:srgbClr val="3E5FCB"/>
          </a:solidFill>
          <a:ln/>
        </p:spPr>
      </p:sp>
      <p:sp>
        <p:nvSpPr>
          <p:cNvPr id="29" name="Text 27"/>
          <p:cNvSpPr/>
          <p:nvPr/>
        </p:nvSpPr>
        <p:spPr>
          <a:xfrm>
            <a:off x="10158984" y="24688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6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960" dirty="0"/>
          </a:p>
        </p:txBody>
      </p:sp>
      <p:sp>
        <p:nvSpPr>
          <p:cNvPr id="30" name="Text 28"/>
          <p:cNvSpPr/>
          <p:nvPr/>
        </p:nvSpPr>
        <p:spPr>
          <a:xfrm>
            <a:off x="9528048" y="3337560"/>
            <a:ext cx="1901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Visualize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9573768" y="3749040"/>
            <a:ext cx="181051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Charts in matplotlib and Plotly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548640" y="530352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cleaning decisions documented in DATA_CLEANING_BRIEF.md and notebook section 3–4.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Results: Score by Subject</a:t>
            </a:r>
            <a:endParaRPr lang="en-US" sz="2800" dirty="0"/>
          </a:p>
        </p:txBody>
      </p:sp>
      <p:pic>
        <p:nvPicPr>
          <p:cNvPr id="3" name="Image 0" descr="assets_bar_subject_scor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26480" y="1280160"/>
            <a:ext cx="5486400" cy="36576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48640" y="1463040"/>
            <a:ext cx="53949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exam scores are consistent across all six subjects, sitting in the mid-70s with no subject standing out as substantially harder or easier.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548640" y="3108960"/>
            <a:ext cx="5394960" cy="1828800"/>
          </a:xfrm>
          <a:prstGeom prst="roundRect">
            <a:avLst>
              <a:gd name="adj" fmla="val 5000"/>
            </a:avLst>
          </a:prstGeom>
          <a:solidFill>
            <a:srgbClr val="F4F6FC"/>
          </a:solidFill>
          <a:ln/>
        </p:spPr>
      </p:sp>
      <p:sp>
        <p:nvSpPr>
          <p:cNvPr id="6" name="Text 3"/>
          <p:cNvSpPr/>
          <p:nvPr/>
        </p:nvSpPr>
        <p:spPr>
          <a:xfrm>
            <a:off x="822960" y="3291840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3E5FC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~75</a:t>
            </a:r>
            <a:endParaRPr lang="en-US" sz="3800" dirty="0"/>
          </a:p>
        </p:txBody>
      </p:sp>
      <p:sp>
        <p:nvSpPr>
          <p:cNvPr id="7" name="Text 4"/>
          <p:cNvSpPr/>
          <p:nvPr/>
        </p:nvSpPr>
        <p:spPr>
          <a:xfrm>
            <a:off x="822960" y="4069080"/>
            <a:ext cx="4846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score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all subjects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Results: Attendance Patterns</a:t>
            </a:r>
            <a:endParaRPr lang="en-US" sz="2800" dirty="0"/>
          </a:p>
        </p:txBody>
      </p:sp>
      <p:pic>
        <p:nvPicPr>
          <p:cNvPr id="3" name="Image 0" descr="assets_heatmap_attendanc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0160" y="1371600"/>
            <a:ext cx="9601200" cy="29260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48640" y="4526280"/>
            <a:ext cx="10698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 rate by grade level and subject shows no systematic pattern — no grade or subject sees meaningfully higher or lower attendance than any other.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Insights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600200"/>
            <a:ext cx="594360" cy="59436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60020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2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</a:t>
            </a:r>
            <a:endParaRPr lang="en-US" sz="1820" dirty="0"/>
          </a:p>
        </p:txBody>
      </p:sp>
      <p:sp>
        <p:nvSpPr>
          <p:cNvPr id="5" name="Text 3"/>
          <p:cNvSpPr/>
          <p:nvPr/>
        </p:nvSpPr>
        <p:spPr>
          <a:xfrm>
            <a:off x="1371600" y="1554480"/>
            <a:ext cx="9692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Scores are consistent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1371600" y="1947672"/>
            <a:ext cx="9692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Mid-70s average across every subject, no outliers.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48640" y="2743200"/>
            <a:ext cx="594360" cy="59436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274320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2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820" dirty="0"/>
          </a:p>
        </p:txBody>
      </p:sp>
      <p:sp>
        <p:nvSpPr>
          <p:cNvPr id="9" name="Text 7"/>
          <p:cNvSpPr/>
          <p:nvPr/>
        </p:nvSpPr>
        <p:spPr>
          <a:xfrm>
            <a:off x="1371600" y="2697480"/>
            <a:ext cx="9692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correlation found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371600" y="3090672"/>
            <a:ext cx="9692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 and homework completion show ~0 correlation with exam score, in every subject.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548640" y="3886200"/>
            <a:ext cx="594360" cy="59436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388620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2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─</a:t>
            </a:r>
            <a:endParaRPr lang="en-US" sz="1820" dirty="0"/>
          </a:p>
        </p:txBody>
      </p:sp>
      <p:sp>
        <p:nvSpPr>
          <p:cNvPr id="13" name="Text 11"/>
          <p:cNvSpPr/>
          <p:nvPr/>
        </p:nvSpPr>
        <p:spPr>
          <a:xfrm>
            <a:off x="1371600" y="3840480"/>
            <a:ext cx="9692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Flat attendance trend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1371600" y="4233672"/>
            <a:ext cx="9692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attendance rate stays roughly flat over the full period covered.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548640" y="5029200"/>
            <a:ext cx="594360" cy="59436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502920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2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◆</a:t>
            </a:r>
            <a:endParaRPr lang="en-US" sz="1820" dirty="0"/>
          </a:p>
        </p:txBody>
      </p:sp>
      <p:sp>
        <p:nvSpPr>
          <p:cNvPr id="17" name="Text 15"/>
          <p:cNvSpPr/>
          <p:nvPr/>
        </p:nvSpPr>
        <p:spPr>
          <a:xfrm>
            <a:off x="1371600" y="4983480"/>
            <a:ext cx="9692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Likely synthetic data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371600" y="5376672"/>
            <a:ext cx="9692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absence of any attendance/homework → performance relationship is consistent with randomly generated data, not real classroom outcomes.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008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 &amp; Next Steps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64592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 delivered a clean, merged, analysis-ready dataset and a full set of subject and attendance visualizations — the descriptive foundation for deeper analysis.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2834640"/>
            <a:ext cx="10515600" cy="2651760"/>
          </a:xfrm>
          <a:prstGeom prst="roundRect">
            <a:avLst>
              <a:gd name="adj" fmla="val 4138"/>
            </a:avLst>
          </a:prstGeom>
          <a:solidFill>
            <a:srgbClr val="2A3576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3063240"/>
            <a:ext cx="9784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Suggested next steps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14400" y="3611880"/>
            <a:ext cx="978408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4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Predictive modeling (regression on exam score, or classification of at-risk students) — out of scope for this submission</a:t>
            </a:r>
            <a:endParaRPr lang="en-US" sz="145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4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Validate findings against real (non-synthetic) classroom data</a:t>
            </a:r>
            <a:endParaRPr lang="en-US" sz="145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4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Extend the attendance/homework analysis with time-of-year or subject-difficulty controls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2026-08-07T08:06:48Z</dcterms:created>
  <dcterms:modified xsi:type="dcterms:W3CDTF">2026-08-07T08:06:48Z</dcterms:modified>
</cp:coreProperties>
</file>